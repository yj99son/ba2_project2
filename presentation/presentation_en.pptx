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000" b="1">
                <a:solidFill>
                  <a:srgbClr val="FFFFFF"/>
                </a:solidFill>
              </a:defRPr>
            </a:pPr>
            <a:r>
              <a:t>Airbnb</a:t>
            </a:r>
            <a:br/>
            <a:r>
              <a:t>Superhost</a:t>
            </a:r>
            <a:br/>
            <a:r>
              <a:t>Prediction</a:t>
            </a:r>
          </a:p>
          <a:p>
            <a:pPr>
              <a:spcBef>
                <a:spcPts val="2000"/>
              </a:spcBef>
              <a:defRPr sz="2400">
                <a:solidFill>
                  <a:srgbClr val="717171"/>
                </a:solidFill>
              </a:defRPr>
            </a:pPr>
            <a:r>
              <a:t>Building ML Classification Models to Predict Airbnb Superhosts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0000"/>
                </a:solidFill>
              </a:defRPr>
            </a:pPr>
            <a:r>
              <a:t>Why Predict Superhost Status?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84848"/>
                </a:solidFill>
              </a:defRPr>
            </a:pPr>
            <a:r>
              <a:t>• 22% Revenue Increase — Superhosts earn more than regular hosts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84848"/>
                </a:solidFill>
              </a:defRPr>
            </a:pPr>
            <a:r>
              <a:t>• 60% Higher Booking Rate — Badge increases guest trust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84848"/>
                </a:solidFill>
              </a:defRPr>
            </a:pPr>
            <a:r>
              <a:t>• $100 Travel Coupon — Annual benefit for Superhosts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84848"/>
                </a:solidFill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731520" y="38404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84848"/>
                </a:solidFill>
              </a:defRPr>
            </a:pPr>
            <a:r>
              <a:t>• Core Question: Can we predict which hosts will become Superhosts?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/>
            </a:pPr>
            <a:r>
              <a:t>Dataset 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2286000" cy="118872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96596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17171"/>
                </a:solidFill>
              </a:defRPr>
            </a:pPr>
            <a:r>
              <a:t>TRAINING SAMPLES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286000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25,386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828800"/>
            <a:ext cx="2286000" cy="118872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37560" y="196596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17171"/>
                </a:solidFill>
              </a:defRPr>
            </a:pPr>
            <a:r>
              <a:t>TEST SAMPLES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2286000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130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200400"/>
            <a:ext cx="2286000" cy="118872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33756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17171"/>
                </a:solidFill>
              </a:defRPr>
            </a:pPr>
            <a:r>
              <a:t>ORIGINAL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57600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54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3200400"/>
            <a:ext cx="2286000" cy="1188720"/>
          </a:xfrm>
          <a:prstGeom prst="rect">
            <a:avLst/>
          </a:prstGeom>
          <a:solidFill>
            <a:srgbClr val="F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7560" y="333756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17171"/>
                </a:solidFill>
              </a:defRPr>
            </a:pPr>
            <a:r>
              <a:t>FINAL FEATURES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3657600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385C"/>
                </a:solidFill>
              </a:defRPr>
            </a:pPr>
            <a:r>
              <a:t>444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828800"/>
            <a:ext cx="45720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Class Distribution</a:t>
            </a:r>
          </a:p>
          <a:p>
            <a:br/>
            <a:pPr>
              <a:defRPr sz="1800">
                <a:solidFill>
                  <a:srgbClr val="484848"/>
                </a:solidFill>
              </a:defRPr>
            </a:pPr>
            <a:r>
              <a:t>• Not Superhost: 64%</a:t>
            </a:r>
            <a:br/>
            <a:r>
              <a:t>• Superhost: 36%</a:t>
            </a:r>
            <a:br/>
            <a:br/>
            <a:r>
              <a:t>* Upsampling applied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0000"/>
                </a:solidFill>
              </a:defRPr>
            </a:pPr>
            <a:r>
              <a:t>Data Preprocessing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84848"/>
                </a:solidFill>
              </a:defRPr>
            </a:pPr>
            <a:r>
              <a:t>• Step 1: Missing Values — Numeric: Median, Categorical: Mode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84848"/>
                </a:solidFill>
              </a:defRPr>
            </a:pPr>
            <a:r>
              <a:t>• Step 2: Feature Engineering — Date → days_since, Price/% → Numeric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84848"/>
                </a:solidFill>
              </a:defRPr>
            </a:pPr>
            <a:r>
              <a:t>• Step 3: Text Embedding — Amenities → 384-dim (SentenceTransformer)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84848"/>
                </a:solidFill>
              </a:defRPr>
            </a:pPr>
            <a:r>
              <a:t>• Step 4: Encoding &amp; Scaling — One-Hot + StandardScaler → 444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404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84848"/>
                </a:solidFill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731520" y="43891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84848"/>
                </a:solidFill>
              </a:defRPr>
            </a:pPr>
            <a:r>
              <a:t>• Property Type: 76 types → 6 groups via embedding clustering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37759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84848"/>
                </a:solidFill>
              </a:defRPr>
            </a:pPr>
            <a:r>
              <a:t>• Class Balancing: 13,731:6,577 → 13,731:13,731 (Upsampling)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0000"/>
                </a:solidFill>
              </a:defRPr>
            </a:pPr>
            <a:r>
              <a:t>Amenity Feature Embedding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84848"/>
                </a:solidFill>
              </a:defRPr>
            </a:pPr>
            <a:r>
              <a:t>• Problem: 6,372 unique amenity terms → sparse one-hot encoding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84848"/>
                </a:solidFill>
              </a:defRPr>
            </a:pPr>
            <a:r>
              <a:t>• Solution: SentenceTransformer (all-MiniLM-L6-v2) → 384-dim dense vector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84848"/>
                </a:solidFill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84848"/>
                </a:solidFill>
              </a:defRPr>
            </a:pPr>
            <a:r>
              <a:t>• Benefits: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404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84848"/>
                </a:solidFill>
              </a:defRPr>
            </a:pPr>
            <a:r>
              <a:t>•   • Captures semantic similarity between amenities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3891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84848"/>
                </a:solidFill>
              </a:defRPr>
            </a:pPr>
            <a:r>
              <a:t>•   • Reduces dimensionality: 6,372 → 384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37759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84848"/>
                </a:solidFill>
              </a:defRPr>
            </a:pPr>
            <a:r>
              <a:t>•   • Handles unseen amenity combinations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486399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84848"/>
                </a:solidFill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731520" y="6035039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84848"/>
                </a:solidFill>
              </a:defRPr>
            </a:pPr>
            <a:r>
              <a:t>• Categories: Entertainment/Tech, Kitchen/Dining, Bathroom/Bedroom,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583679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84848"/>
                </a:solidFill>
              </a:defRPr>
            </a:pPr>
            <a:r>
              <a:t>• Climate Control, Safety, Facilities/Outdoors, Access/Parking, Other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Model Performance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• Random Forest      — Acc: 93.0% | Recall: 67.5% | F1: 73.6%  ✓ Selected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• Decision Tree      — Acc: 89.4% | Recall: 66.2% | F1: 67.8%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• PyTorch MLP        — Acc: 83.5% | Recall: 82.7% | F1: 76.4%  (Best F1)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• KNN                — Acc: 82.9% | Recall: 67.9% | F1: 60.8%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404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• Logistic Regression — Acc: 80.2% | Recall: 82.5% | F1: 72.5%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3891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• Naive Bayes        — Acc: 72.1% | Recall: 87.1% | F1: 58.2%  (Best Recall)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0000"/>
                </a:solidFill>
              </a:defRPr>
            </a:pPr>
            <a:r>
              <a:t>Why Random Forest?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84848"/>
                </a:solidFill>
              </a:defRPr>
            </a:pPr>
            <a:r>
              <a:t>• Selected Model: Random Forest (Acc: 93.0%, Recall: 67.5%, F1: 73.6%)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84848"/>
                </a:solidFill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84848"/>
                </a:solidFill>
              </a:defRPr>
            </a:pPr>
            <a:r>
              <a:t>• Selection Rationale: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84848"/>
                </a:solidFill>
              </a:defRPr>
            </a:pPr>
            <a:r>
              <a:t>•   • High Accuracy — Reliable overall predictions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404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84848"/>
                </a:solidFill>
              </a:defRPr>
            </a:pPr>
            <a:r>
              <a:t>•   • Feature Importance — Interpretable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3891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84848"/>
                </a:solidFill>
              </a:defRPr>
            </a:pPr>
            <a:r>
              <a:t>•   • Stability — Low overfitting 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37759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84848"/>
                </a:solidFill>
              </a:defRPr>
            </a:pPr>
            <a:r>
              <a:t>•   • Business View — Avoid false Superhost awards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486399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84848"/>
                </a:solidFill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731520" y="6035039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84848"/>
                </a:solidFill>
              </a:defRPr>
            </a:pPr>
            <a:r>
              <a:t>• Top Features: host_listings_count, review_scores_rating,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583679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84848"/>
                </a:solidFill>
              </a:defRPr>
            </a:pPr>
            <a:r>
              <a:t>• number_of_reviews_ltm, host_response_rate, review_scores_value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Airbnb Official</a:t>
            </a:r>
            <a:br/>
            <a:r>
              <a:t>Superhost Criteria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743200"/>
            <a:ext cx="2560320" cy="1828800"/>
          </a:xfrm>
          <a:prstGeom prst="rect">
            <a:avLst/>
          </a:prstGeom>
          <a:solidFill>
            <a:srgbClr val="C8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21945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10+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Completed stays/year</a:t>
            </a:r>
          </a:p>
        </p:txBody>
      </p:sp>
      <p:sp>
        <p:nvSpPr>
          <p:cNvPr id="7" name="Rectangle 6"/>
          <p:cNvSpPr/>
          <p:nvPr/>
        </p:nvSpPr>
        <p:spPr>
          <a:xfrm>
            <a:off x="3566160" y="2743200"/>
            <a:ext cx="2560320" cy="1828800"/>
          </a:xfrm>
          <a:prstGeom prst="rect">
            <a:avLst/>
          </a:prstGeom>
          <a:solidFill>
            <a:srgbClr val="C8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49040" y="2926080"/>
            <a:ext cx="21945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90%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40" y="384048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Response Rate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2743200"/>
            <a:ext cx="2560320" cy="1828800"/>
          </a:xfrm>
          <a:prstGeom prst="rect">
            <a:avLst/>
          </a:prstGeom>
          <a:solidFill>
            <a:srgbClr val="C8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926080"/>
            <a:ext cx="21945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&lt;1%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84048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Cancellation Rate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35440" y="2743200"/>
            <a:ext cx="2560320" cy="1828800"/>
          </a:xfrm>
          <a:prstGeom prst="rect">
            <a:avLst/>
          </a:prstGeom>
          <a:solidFill>
            <a:srgbClr val="C8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0" y="2926080"/>
            <a:ext cx="21945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4.8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384048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Overall Rating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0000"/>
                </a:solidFill>
              </a:defRPr>
            </a:pPr>
            <a:r>
              <a:t>ML Model vs Official Criteria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84848"/>
                </a:solidFill>
              </a:defRPr>
            </a:pPr>
            <a:r>
              <a:t>• Airbnb Official:                    ML Model Top Features: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84848"/>
                </a:solidFill>
              </a:defRPr>
            </a:pPr>
            <a:r>
              <a:t>• • Response Rate ≥ 90%              • host_listings_count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84848"/>
                </a:solidFill>
              </a:defRPr>
            </a:pPr>
            <a:r>
              <a:t>• • Rating ≥ 4.8                     • review_scores_rating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84848"/>
                </a:solidFill>
              </a:defRPr>
            </a:pPr>
            <a:r>
              <a:t>• • Annual Reviews ≥ 10              • number_of_reviews_ltm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404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84848"/>
                </a:solidFill>
              </a:defRPr>
            </a:pPr>
            <a:r>
              <a:t>• • Cancellation &lt; 1%                • host_response_rate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3891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84848"/>
                </a:solidFill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731520" y="4937759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84848"/>
                </a:solidFill>
              </a:defRPr>
            </a:pPr>
            <a:r>
              <a:t>• ✓ Aligned: Response Rate, Rating, Activity metrics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486399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84848"/>
                </a:solidFill>
              </a:defRPr>
            </a:pPr>
            <a:r>
              <a:t>• ✕ ML-only: host_listings_count, amenities embedding, experience duration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0000"/>
                </a:solidFill>
              </a:defRPr>
            </a:pPr>
            <a:r>
              <a:t>Disagreement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84848"/>
                </a:solidFill>
              </a:defRPr>
            </a:pPr>
            <a:r>
              <a:t>• Agreement Rate: 80.8% | Disagreement: 25 cases (19.2%)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84848"/>
                </a:solidFill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84848"/>
                </a:solidFill>
              </a:defRPr>
            </a:pPr>
            <a:r>
              <a:t>• Case #3: Response 100% ✓, Rating 4.90 ✓, Reviews 18 ✓ → Rule: ✓, ML: 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84848"/>
                </a:solidFill>
              </a:defRPr>
            </a:pPr>
            <a:r>
              <a:t>• Case #16: Response 100% ✓, Rating 5.00 ✓, Reviews 10 ✓ → Mystery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404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84848"/>
                </a:solidFill>
              </a:defRPr>
            </a:pPr>
            <a:r>
              <a:t>• Case #5: Response 100% ✓, Rating 5.00 ✓, Reviews 8 ✕ → Under 10 reviews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3891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84848"/>
                </a:solidFill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731520" y="4937759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84848"/>
                </a:solidFill>
              </a:defRPr>
            </a:pPr>
            <a:r>
              <a:t>• Key Insight: ML model learns latent patterns like 'hosting scale'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486399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84848"/>
                </a:solidFill>
              </a:defRPr>
            </a:pPr>
            <a:r>
              <a:t>• and 'experience duration' not in official criteria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Conclusions &amp; Implications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3200400" cy="1828800"/>
          </a:xfrm>
          <a:prstGeom prst="rect">
            <a:avLst/>
          </a:prstGeom>
          <a:solidFill>
            <a:srgbClr val="48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29260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High Accuracy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Random Forest: 93%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828800"/>
            <a:ext cx="3200400" cy="1828800"/>
          </a:xfrm>
          <a:prstGeom prst="rect">
            <a:avLst/>
          </a:prstGeom>
          <a:solidFill>
            <a:srgbClr val="48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2103120"/>
            <a:ext cx="29260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Criteria Alignment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Agreement: 80.8%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1828800"/>
            <a:ext cx="3200400" cy="1828800"/>
          </a:xfrm>
          <a:prstGeom prst="rect">
            <a:avLst/>
          </a:prstGeom>
          <a:solidFill>
            <a:srgbClr val="48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2103120"/>
            <a:ext cx="29260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Hidden Patterns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Hosting scale &amp; experience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389120"/>
            <a:ext cx="10698480" cy="1828800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572000"/>
            <a:ext cx="103327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Applications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Host Coaching: Identify high-potential hosts early | Platform Operations: Quality management &amp; marketing optimization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