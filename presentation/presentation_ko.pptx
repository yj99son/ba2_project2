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Airbnb</a:t>
            </a:r>
            <a:br/>
            <a:r>
              <a:t>Superhost</a:t>
            </a:r>
            <a:br/>
            <a:r>
              <a:t>Prediction</a:t>
            </a:r>
          </a:p>
          <a:p>
            <a:pPr>
              <a:spcBef>
                <a:spcPts val="2000"/>
              </a:spcBef>
              <a:defRPr sz="2400">
                <a:solidFill>
                  <a:srgbClr val="717171"/>
                </a:solidFill>
              </a:defRPr>
            </a:pPr>
            <a:r>
              <a:t>에어비앤비 슈퍼호스트 예측을 위한 머신러닝 모델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슈퍼호스트 예측이 왜 중요한가?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22% 수익 증가 — 슈퍼호스트는 일반 호스트보다 높은 수익 창출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60% 높은 예약률 — 뱃지가 게스트의 신뢰도를 높임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$100 여행 쿠폰 — 슈퍼호스트를 위한 연간 혜택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핵심 질문: 어떤 호스트가 슈퍼호스트가 될지 미리 알 수 있을까?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데이터셋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286000" cy="11887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1"/>
                </a:solidFill>
              </a:defRPr>
            </a:pPr>
            <a:r>
              <a:t>학습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25,386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828800"/>
            <a:ext cx="2286000" cy="11887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965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1"/>
                </a:solidFill>
              </a:defRPr>
            </a:pPr>
            <a:r>
              <a:t>테스트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286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130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2286000" cy="11887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1"/>
                </a:solidFill>
              </a:defRPr>
            </a:pPr>
            <a:r>
              <a:t>원본 피처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54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200400"/>
            <a:ext cx="2286000" cy="1188720"/>
          </a:xfrm>
          <a:prstGeom prst="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33375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1"/>
                </a:solidFill>
              </a:defRPr>
            </a:pPr>
            <a:r>
              <a:t>최종 피처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6576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385C"/>
                </a:solidFill>
              </a:defRPr>
            </a:pPr>
            <a:r>
              <a:t>444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클래스 분포</a:t>
            </a:r>
          </a:p>
          <a:p>
            <a:br/>
            <a:pPr>
              <a:defRPr sz="1800">
                <a:solidFill>
                  <a:srgbClr val="484848"/>
                </a:solidFill>
              </a:defRPr>
            </a:pPr>
            <a:r>
              <a:t>• 일반 호스트: 64%</a:t>
            </a:r>
            <a:br/>
            <a:r>
              <a:t>• 슈퍼호스트: 36%</a:t>
            </a:r>
            <a:br/>
            <a:br/>
            <a:r>
              <a:t>* Upsampling 적용됨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데이터 전처리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1단계: 결측치 처리 — 수치형: 중앙값, 범주형: 최빈값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2단계: 피처 엔지니어링 — 날짜 → 경과일수, 가격/% → 수치형 변환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3단계: 텍스트 임베딩 — 편의시설(Amenities) → 384차원 벡터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4단계: 인코딩 &amp; 스케일링 — One-Hot + StandardScaler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숙소 유형: 76개 유형 → 임베딩 클러스터링으로 6개 그룹화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5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클래스 균형: 13,731:6,577 → 13,731:13,731 (Upsampling)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어메니티 임베딩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731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7171"/>
                </a:solidFill>
              </a:defRPr>
            </a:pPr>
            <a:r>
              <a:t>Model: SentenceTransformer (all-MiniLM-L6-v2)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484848"/>
                </a:solidFill>
              </a:defRPr>
            </a:pPr>
            <a:r>
              <a:t>원본 데이터에는 6,372개의 고유한 편의시설 용어가 존재합니다. 이를 전통적인 One-Hot 인코딩으로 처리하면 데이터가 매우 희소해져 의미적 연결성을 잃게 됩니다.</a:t>
            </a:r>
          </a:p>
          <a:p>
            <a:pPr>
              <a:defRPr sz="1600">
                <a:solidFill>
                  <a:srgbClr val="484848"/>
                </a:solidFill>
              </a:defRPr>
            </a:pPr>
            <a:r>
              <a:t>우리는 이 용어들을 384차원 밀집 벡터로 임베딩하여, 'Wifi'와 'Internet' 같은 단어 간의 의미적 유사성을 포착했습니다.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5029200" cy="7315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📝 6,372 용어  →  🤖 Transformer  →  📊 384차원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754880"/>
            <a:ext cx="5029200" cy="1097280"/>
          </a:xfrm>
          <a:prstGeom prst="rect">
            <a:avLst/>
          </a:prstGeom>
          <a:solidFill>
            <a:srgbClr val="FFF5F7"/>
          </a:solidFill>
          <a:ln>
            <a:solidFill>
              <a:srgbClr val="F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4663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385C"/>
                </a:solidFill>
              </a:defRPr>
            </a:pPr>
            <a:r>
              <a:t>단순한 유무(Presence)를 넘어, 모델이 편의시설의 품질과 완결성을 이해하도록 돕습니다.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4206240"/>
          </a:xfrm>
          <a:prstGeom prst="rect">
            <a:avLst/>
          </a:prstGeom>
          <a:solidFill>
            <a:srgbClr val="F7F7F7"/>
          </a:solidFill>
          <a:ln>
            <a:solidFill>
              <a:srgbClr val="71717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717171"/>
                </a:solidFill>
              </a:defRPr>
            </a:pPr>
            <a:r>
              <a:t>Interactive t-SNE Visualization</a:t>
            </a:r>
            <a:br/>
            <a:r>
              <a:t>(HTML 파일 참조)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모델 성능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Random Forest      — 정확도: 93.0% | 재현율: 67.5% | F1: 73.6%  ✓ 선택됨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Decision Tree      — 정확도: 89.4% | 재현율: 66.2% | F1: 67.8%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PyTorch MLP        — 정확도: 83.5% | 재현율: 82.7% | F1: 76.4%  (최고 F1)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KNN                — 정확도: 82.9% | 재현율: 67.9% | F1: 60.8%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Logistic Regression — 정확도: 80.2% | 재현율: 82.5% | F1: 72.5%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Naive Bayes        — 정확도: 72.1% | 재현율: 87.1% | F1: 58.2%  (최고 재현율)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왜 Random Forest인가?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선택 모델: Random Forest (정확도: 93.0%, F1: 73.6%)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선택 이유: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  • 높은 정확도 — 전반적으로 가장 신뢰할 수 있는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  • 변수 중요도 — 모델의 판단 근거 해석 용이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  • 안정성 — 과적합 위험이 낮음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5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  • 비즈니스 관점 — 잘못된 슈퍼호스트 선정 방지 (높은 정밀도)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39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3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상위 중요 변수: 호스트 리스팅 수, 평점, 최근 리뷰 수, 응답률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에어비앤비 공식</a:t>
            </a:r>
            <a:br/>
            <a:r>
              <a:t>슈퍼호스트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2560320" cy="1828800"/>
          </a:xfrm>
          <a:prstGeom prst="rect">
            <a:avLst/>
          </a:prstGeom>
          <a:solidFill>
            <a:srgbClr val="C8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10+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연간 완료된 숙박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2743200"/>
            <a:ext cx="2560320" cy="1828800"/>
          </a:xfrm>
          <a:prstGeom prst="rect">
            <a:avLst/>
          </a:prstGeom>
          <a:solidFill>
            <a:srgbClr val="C8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29260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38404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응답률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743200"/>
            <a:ext cx="2560320" cy="1828800"/>
          </a:xfrm>
          <a:prstGeom prst="rect">
            <a:avLst/>
          </a:prstGeom>
          <a:solidFill>
            <a:srgbClr val="C8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&lt;1%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8404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취소율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743200"/>
            <a:ext cx="2560320" cy="1828800"/>
          </a:xfrm>
          <a:prstGeom prst="rect">
            <a:avLst/>
          </a:prstGeom>
          <a:solidFill>
            <a:srgbClr val="C8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9260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4.8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8404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전체 평점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ML 모델 vs 공식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에어비앤비 공식 기준:                ML 모델 상위 중요 변수: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• 응답률 ≥ 90%                     • host_listings_count (리스팅 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• 평점 ≥ 4.8                       • review_scores_rating (평점)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• 연간 숙박 수 ≥ 10                • number_of_reviews_ltm (최근 리뷰)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• 취소율 &lt; 1%                      • host_response_rate (응답률)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493775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✓ 일치하는 점: 응답률, 평점, 활동성 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39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✕ ML만의 발견: 호스트 리스팅 수(규모), 어메니티 품질, 경력 기간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불일치 케이스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일치율: 80.8% | 불일치: 25건 (19.2%)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케이스 #3: 응답 100% ✓, 평점 4.90 ✓, 리뷰 18 ✓ → 규칙: ✓, ML: 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케이스 #16: 응답 100% ✓, 평점 5.00 ✓, 리뷰 10 ✓ → 미스터리 케이스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케이스 #5: 응답 100% ✓, 평점 5.00 ✓, 리뷰 8 ✕ → 리뷰 수 부족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493775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핵심 인사이트: ML 모델은 공식 기준에 없는 '운영 규모'나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39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'경력 기간' 같은 잠재적 패턴을 학습하여 더 유연하게 판단함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결론 및 시사점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200400" cy="18288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높은 정확도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Random Forest: 93%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828800"/>
            <a:ext cx="3200400" cy="18288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0312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기준 일치도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일치율: 80.8%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828800"/>
            <a:ext cx="3200400" cy="18288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0312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숨겨진 패턴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운영 규모 &amp; 경력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활용 방안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호스트 코칭: 잠재력 높은 호스트 조기 발굴 | 플랫폼 운영: 품질 관리 및 마케팅 최적화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